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60" r:id="rId5"/>
    <p:sldId id="265" r:id="rId6"/>
    <p:sldId id="264" r:id="rId7"/>
    <p:sldId id="261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18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8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38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13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73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20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06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21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65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37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37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EEC51F6-C689-473C-B3EF-C59ABCF815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2A7B5F8-9E26-4C92-BD94-DCE0A1CB63D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45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C5EB-DDBA-9F6D-3BD3-E7801A196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Analysing Promotion Prediction Data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CAE97-19A0-431E-0025-437E65585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4143" y="5202238"/>
            <a:ext cx="9144000" cy="1655762"/>
          </a:xfrm>
        </p:spPr>
        <p:txBody>
          <a:bodyPr/>
          <a:lstStyle/>
          <a:p>
            <a:pPr algn="l"/>
            <a:r>
              <a:rPr lang="en-IN" b="1" dirty="0"/>
              <a:t>By</a:t>
            </a:r>
          </a:p>
          <a:p>
            <a:pPr algn="l"/>
            <a:r>
              <a:rPr lang="en-IN" b="1" dirty="0"/>
              <a:t>Mohamed Arsh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45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6B6FE-42DC-9AC3-BE74-C1C8A9FD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11FC-8C2F-DF4C-6572-B5E491C55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model using machine learning techniques to identify the right people for promotion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0BD1-B2B9-7A5D-9309-68A185F5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A204-2F05-0695-68EC-F42EF45BF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Employee ID: Unique identifier for each employee</a:t>
            </a:r>
          </a:p>
          <a:p>
            <a:r>
              <a:rPr lang="en-IN" dirty="0"/>
              <a:t>Demographics: Age, gender, region, education, etc.</a:t>
            </a:r>
          </a:p>
          <a:p>
            <a:r>
              <a:rPr lang="en-IN" dirty="0"/>
              <a:t>Training Details: </a:t>
            </a:r>
            <a:r>
              <a:rPr lang="en-IN" dirty="0" err="1"/>
              <a:t>no_of_trainings</a:t>
            </a:r>
            <a:r>
              <a:rPr lang="en-IN" dirty="0"/>
              <a:t>, </a:t>
            </a:r>
            <a:r>
              <a:rPr lang="en-IN" dirty="0" err="1"/>
              <a:t>previous_year_rating</a:t>
            </a:r>
            <a:r>
              <a:rPr lang="en-IN" dirty="0"/>
              <a:t>, </a:t>
            </a:r>
            <a:r>
              <a:rPr lang="en-IN" dirty="0" err="1"/>
              <a:t>avg_training_score</a:t>
            </a:r>
            <a:r>
              <a:rPr lang="en-IN" dirty="0"/>
              <a:t>, etc.</a:t>
            </a:r>
          </a:p>
          <a:p>
            <a:r>
              <a:rPr lang="en-IN" dirty="0"/>
              <a:t>Metrics: KPI, awards, service, etc. </a:t>
            </a:r>
          </a:p>
          <a:p>
            <a:r>
              <a:rPr lang="en-IN" dirty="0" err="1"/>
              <a:t>is_promoted</a:t>
            </a:r>
            <a:r>
              <a:rPr lang="en-IN" dirty="0"/>
              <a:t>: Target variable indicate whether the employee recommended for Promotion</a:t>
            </a:r>
          </a:p>
        </p:txBody>
      </p:sp>
    </p:spTree>
    <p:extLst>
      <p:ext uri="{BB962C8B-B14F-4D97-AF65-F5344CB8AC3E}">
        <p14:creationId xmlns:p14="http://schemas.microsoft.com/office/powerpoint/2010/main" val="363706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8E2CD-5C97-ABDE-EAAA-DED8E726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preprocessing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AD6120-4FAB-F8BF-1119-60A2BED0D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648" y="2250059"/>
            <a:ext cx="2158681" cy="4022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D6C006-DAFF-B305-FC21-DD63C0EE0F42}"/>
              </a:ext>
            </a:extLst>
          </p:cNvPr>
          <p:cNvSpPr txBox="1"/>
          <p:nvPr/>
        </p:nvSpPr>
        <p:spPr>
          <a:xfrm>
            <a:off x="4907280" y="2763520"/>
            <a:ext cx="5445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Education variable is filled with ‘Unknown’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Previous_year_rating</a:t>
            </a:r>
            <a:r>
              <a:rPr lang="en-US" dirty="0"/>
              <a:t> is imputed with median of the rating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84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2C62-4591-D71E-A782-BD7653AA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&amp; validation data split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23931-DF04-4498-A6D7-848EE5459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3263392" cy="3230880"/>
          </a:xfrm>
        </p:spPr>
        <p:txBody>
          <a:bodyPr/>
          <a:lstStyle/>
          <a:p>
            <a:r>
              <a:rPr lang="en-US" b="1" dirty="0"/>
              <a:t>Numerical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no_of_trainings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length_of_service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avg_training_score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previous_year_rating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F0D371-B832-EF89-7DA3-BEDA62B12ED7}"/>
              </a:ext>
            </a:extLst>
          </p:cNvPr>
          <p:cNvSpPr txBox="1">
            <a:spLocks/>
          </p:cNvSpPr>
          <p:nvPr/>
        </p:nvSpPr>
        <p:spPr>
          <a:xfrm>
            <a:off x="4464304" y="2286000"/>
            <a:ext cx="3263392" cy="3230880"/>
          </a:xfrm>
          <a:prstGeom prst="rect">
            <a:avLst/>
          </a:prstGeom>
        </p:spPr>
        <p:txBody>
          <a:bodyPr vert="horz" lIns="45720" tIns="45720" rIns="45720" bIns="45720" rtlCol="0">
            <a:normAutofit fontScale="925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Categorical Features: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Department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Education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gender </a:t>
            </a:r>
            <a:r>
              <a:rPr lang="en-US" dirty="0" err="1"/>
              <a:t>recruitment_channel</a:t>
            </a:r>
            <a:endParaRPr lang="en-US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KPIs_met</a:t>
            </a:r>
            <a:r>
              <a:rPr lang="en-US" dirty="0"/>
              <a:t> &gt;80% </a:t>
            </a:r>
            <a:r>
              <a:rPr lang="en-US" dirty="0" err="1"/>
              <a:t>awards_won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1B0677-AFDC-159C-A631-D3338C520102}"/>
              </a:ext>
            </a:extLst>
          </p:cNvPr>
          <p:cNvSpPr txBox="1">
            <a:spLocks/>
          </p:cNvSpPr>
          <p:nvPr/>
        </p:nvSpPr>
        <p:spPr>
          <a:xfrm>
            <a:off x="8029448" y="2286000"/>
            <a:ext cx="2435352" cy="17068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Data Split: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10% data is used for validation</a:t>
            </a:r>
          </a:p>
        </p:txBody>
      </p:sp>
    </p:spTree>
    <p:extLst>
      <p:ext uri="{BB962C8B-B14F-4D97-AF65-F5344CB8AC3E}">
        <p14:creationId xmlns:p14="http://schemas.microsoft.com/office/powerpoint/2010/main" val="1035830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5CE3-2DF5-5F7E-085F-860A0E07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B0744-0CC9-2556-C9B4-E8F2C1E8C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18048" cy="322072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Logistic Regression model is built and evaluated using ROC score and F1 score as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Train Data and Validation Data is nearly the same for both metrics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05C1D7-0A7D-93F2-5A68-7D52E61A1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56" y="2234015"/>
            <a:ext cx="6211167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7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B107-35C1-1B68-38C3-7A718EBA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Model Selection &amp; Hyperparameter Tuning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076F7-16E7-DA5B-8002-A7F5C977C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838191" cy="4023360"/>
          </a:xfrm>
        </p:spPr>
        <p:txBody>
          <a:bodyPr>
            <a:normAutofit/>
          </a:bodyPr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Select the best classification model and hyperparameters using cross-validation.</a:t>
            </a:r>
          </a:p>
          <a:p>
            <a:r>
              <a:rPr lang="en-US" dirty="0"/>
              <a:t>Defined a </a:t>
            </a:r>
            <a:r>
              <a:rPr lang="en-US" b="1" dirty="0"/>
              <a:t>parameter grid</a:t>
            </a:r>
            <a:r>
              <a:rPr lang="en-US" dirty="0"/>
              <a:t> covering:</a:t>
            </a:r>
          </a:p>
          <a:p>
            <a:pPr lvl="1"/>
            <a:r>
              <a:rPr lang="en-US" b="1" dirty="0"/>
              <a:t>Logistic Regression</a:t>
            </a:r>
            <a:r>
              <a:rPr lang="en-US" dirty="0"/>
              <a:t> (regularization type &amp; strength)</a:t>
            </a:r>
          </a:p>
          <a:p>
            <a:pPr lvl="1"/>
            <a:r>
              <a:rPr lang="en-US" b="1" dirty="0"/>
              <a:t>Decision Tree</a:t>
            </a:r>
            <a:r>
              <a:rPr lang="en-US" dirty="0"/>
              <a:t> (tree depth)</a:t>
            </a:r>
          </a:p>
          <a:p>
            <a:r>
              <a:rPr lang="en-US" dirty="0"/>
              <a:t>Used </a:t>
            </a:r>
            <a:r>
              <a:rPr lang="en-US" b="1" dirty="0" err="1"/>
              <a:t>GridSearchCV</a:t>
            </a:r>
            <a:r>
              <a:rPr lang="en-US" dirty="0"/>
              <a:t> with:</a:t>
            </a:r>
          </a:p>
          <a:p>
            <a:pPr lvl="1"/>
            <a:r>
              <a:rPr lang="en-US" dirty="0"/>
              <a:t>2-fold cross-validation</a:t>
            </a:r>
          </a:p>
          <a:p>
            <a:pPr lvl="1"/>
            <a:r>
              <a:rPr lang="en-US" b="1" dirty="0"/>
              <a:t>ROC-AUC</a:t>
            </a:r>
            <a:r>
              <a:rPr lang="en-US" dirty="0"/>
              <a:t> as the scoring metric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A9B9E-ACF9-9F18-E71D-8A8D56F04E0A}"/>
              </a:ext>
            </a:extLst>
          </p:cNvPr>
          <p:cNvSpPr txBox="1"/>
          <p:nvPr/>
        </p:nvSpPr>
        <p:spPr>
          <a:xfrm>
            <a:off x="6431280" y="2286000"/>
            <a:ext cx="50088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ROC-AUC?</a:t>
            </a:r>
            <a:endParaRPr lang="en-US" dirty="0"/>
          </a:p>
          <a:p>
            <a:r>
              <a:rPr lang="en-US" dirty="0"/>
              <a:t>Dataset is </a:t>
            </a:r>
            <a:r>
              <a:rPr lang="en-US" b="1" dirty="0"/>
              <a:t>imbalanced</a:t>
            </a:r>
            <a:endParaRPr lang="en-US" dirty="0"/>
          </a:p>
          <a:p>
            <a:r>
              <a:rPr lang="en-US" dirty="0"/>
              <a:t>ROC-AUC evaluates ranking ability independent of class threshold</a:t>
            </a:r>
          </a:p>
          <a:p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Grid search systematically evaluated multiple model–parameter combinations and identified the best performer.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99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131B-B3E9-0A95-A0AD-01E3A044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Imbalance &amp;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AA03-E51F-0EDD-62F3-DE8379B8E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299712" cy="4023360"/>
          </a:xfrm>
        </p:spPr>
        <p:txBody>
          <a:bodyPr>
            <a:normAutofit/>
          </a:bodyPr>
          <a:lstStyle/>
          <a:p>
            <a:r>
              <a:rPr lang="en-US" b="1" dirty="0"/>
              <a:t>Problem:</a:t>
            </a:r>
            <a:br>
              <a:rPr lang="en-US" dirty="0"/>
            </a:br>
            <a:r>
              <a:rPr lang="en-US" dirty="0"/>
              <a:t>Promotion class was under-represented.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Applied </a:t>
            </a:r>
            <a:r>
              <a:rPr lang="en-US" b="1" dirty="0" err="1"/>
              <a:t>RandomOverSampler</a:t>
            </a:r>
            <a:r>
              <a:rPr lang="en-US" dirty="0"/>
              <a:t> to balance training data</a:t>
            </a:r>
          </a:p>
          <a:p>
            <a:r>
              <a:rPr lang="en-US" dirty="0"/>
              <a:t>Ensured equal representation of promoted and non-promoted employees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2B65D-106E-02A8-5F27-D136BF46C1B9}"/>
              </a:ext>
            </a:extLst>
          </p:cNvPr>
          <p:cNvSpPr txBox="1"/>
          <p:nvPr/>
        </p:nvSpPr>
        <p:spPr>
          <a:xfrm>
            <a:off x="6746240" y="2084832"/>
            <a:ext cx="48971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Evaluation:</a:t>
            </a:r>
            <a:endParaRPr lang="en-US" dirty="0"/>
          </a:p>
          <a:p>
            <a:endParaRPr lang="en-US" dirty="0"/>
          </a:p>
          <a:p>
            <a:r>
              <a:rPr lang="en-US" dirty="0"/>
              <a:t>Trained grid search on oversampled data</a:t>
            </a:r>
          </a:p>
          <a:p>
            <a:r>
              <a:rPr lang="en-US" dirty="0"/>
              <a:t>Extracted:</a:t>
            </a:r>
          </a:p>
          <a:p>
            <a:pPr lvl="1"/>
            <a:r>
              <a:rPr lang="en-US" dirty="0"/>
              <a:t>Best hyperparameters</a:t>
            </a:r>
          </a:p>
          <a:p>
            <a:pPr lvl="1"/>
            <a:r>
              <a:rPr lang="en-US" dirty="0"/>
              <a:t>Best estimator (full pipeline)</a:t>
            </a:r>
          </a:p>
          <a:p>
            <a:r>
              <a:rPr lang="en-US" dirty="0"/>
              <a:t>Analyzed cross-validation results using:</a:t>
            </a:r>
          </a:p>
          <a:p>
            <a:pPr lvl="1"/>
            <a:r>
              <a:rPr lang="en-US" dirty="0"/>
              <a:t>Mean ROC-AUC</a:t>
            </a:r>
          </a:p>
          <a:p>
            <a:pPr lvl="1"/>
            <a:r>
              <a:rPr lang="en-US" dirty="0"/>
              <a:t>Model ranking</a:t>
            </a:r>
          </a:p>
          <a:p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A balanced, well-tuned model with improved sensitivity to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642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F98D-EF53-D2AE-74AD-5DFD38B6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Prediction &amp; Final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D5511-5F35-D0DB-B921-B24992797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17631" cy="257454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Prediction Process:</a:t>
            </a:r>
            <a:endParaRPr lang="en-US" dirty="0"/>
          </a:p>
          <a:p>
            <a:r>
              <a:rPr lang="en-US" dirty="0"/>
              <a:t>Used the best estimator to generate </a:t>
            </a:r>
            <a:r>
              <a:rPr lang="en-US" b="1" dirty="0"/>
              <a:t>promotion probabilities</a:t>
            </a:r>
            <a:endParaRPr lang="en-US" dirty="0"/>
          </a:p>
          <a:p>
            <a:r>
              <a:rPr lang="en-US" dirty="0"/>
              <a:t>Converted probabilities into binary predictions using a threshold</a:t>
            </a:r>
          </a:p>
          <a:p>
            <a:r>
              <a:rPr lang="en-US" b="1" dirty="0"/>
              <a:t>Submission Creation:</a:t>
            </a:r>
            <a:endParaRPr lang="en-US" dirty="0"/>
          </a:p>
          <a:p>
            <a:r>
              <a:rPr lang="en-US" dirty="0"/>
              <a:t>Created final prediction column (</a:t>
            </a:r>
            <a:r>
              <a:rPr lang="en-US" dirty="0" err="1"/>
              <a:t>is_promoted</a:t>
            </a:r>
            <a:r>
              <a:rPr lang="en-US" dirty="0"/>
              <a:t>)</a:t>
            </a:r>
          </a:p>
          <a:p>
            <a:r>
              <a:rPr lang="en-US" dirty="0"/>
              <a:t>Exported results in the required CSV format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2E32B-B127-7AA6-3139-FBD4CDDF90D5}"/>
              </a:ext>
            </a:extLst>
          </p:cNvPr>
          <p:cNvSpPr txBox="1"/>
          <p:nvPr/>
        </p:nvSpPr>
        <p:spPr>
          <a:xfrm>
            <a:off x="1024128" y="5348224"/>
            <a:ext cx="9720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Submission:</a:t>
            </a:r>
            <a:endParaRPr lang="en-US" dirty="0"/>
          </a:p>
          <a:p>
            <a:r>
              <a:rPr lang="en-US" dirty="0"/>
              <a:t>Combined </a:t>
            </a:r>
            <a:r>
              <a:rPr lang="en-US" b="1" dirty="0"/>
              <a:t>oversampling + grid search + ROC-AUC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3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1D12-56A2-3A7B-23F9-F13E7889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deployment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E0F4-16C8-7FE6-CDA0-0969C444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979151" cy="660400"/>
          </a:xfrm>
        </p:spPr>
        <p:txBody>
          <a:bodyPr>
            <a:normAutofit/>
          </a:bodyPr>
          <a:lstStyle/>
          <a:p>
            <a:r>
              <a:rPr lang="en-US" dirty="0"/>
              <a:t>Please click the below link to access the frontend app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B91FE-7D2E-73C1-457C-8F16AFA268D4}"/>
              </a:ext>
            </a:extLst>
          </p:cNvPr>
          <p:cNvSpPr txBox="1"/>
          <p:nvPr/>
        </p:nvSpPr>
        <p:spPr>
          <a:xfrm>
            <a:off x="1158240" y="3244334"/>
            <a:ext cx="737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https://we25hack3-1020112675950.asia-south2.run.app/</a:t>
            </a:r>
          </a:p>
        </p:txBody>
      </p:sp>
    </p:spTree>
    <p:extLst>
      <p:ext uri="{BB962C8B-B14F-4D97-AF65-F5344CB8AC3E}">
        <p14:creationId xmlns:p14="http://schemas.microsoft.com/office/powerpoint/2010/main" val="42305971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117</TotalTime>
  <Words>436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  Analysing Promotion Prediction Data </vt:lpstr>
      <vt:lpstr>Objective</vt:lpstr>
      <vt:lpstr>Dataset Variables</vt:lpstr>
      <vt:lpstr>Data cleaning and preprocessing</vt:lpstr>
      <vt:lpstr>Feature engineering &amp; validation data split</vt:lpstr>
      <vt:lpstr>Baseline model</vt:lpstr>
      <vt:lpstr>Model Selection &amp; Hyperparameter Tuning</vt:lpstr>
      <vt:lpstr>Class Imbalance &amp; Model Evaluation</vt:lpstr>
      <vt:lpstr>Prediction &amp; Final Submission </vt:lpstr>
      <vt:lpstr>Streamlit deployment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 Ali</dc:creator>
  <cp:lastModifiedBy>Nisha Ali</cp:lastModifiedBy>
  <cp:revision>2</cp:revision>
  <dcterms:created xsi:type="dcterms:W3CDTF">2026-01-04T14:01:30Z</dcterms:created>
  <dcterms:modified xsi:type="dcterms:W3CDTF">2026-01-04T15:58:46Z</dcterms:modified>
</cp:coreProperties>
</file>